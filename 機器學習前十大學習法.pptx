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Noto Sans TC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6AB6FD-01EE-449D-90AA-9F857481E0A3}">
  <a:tblStyle styleId="{2F6AB6FD-01EE-449D-90AA-9F857481E0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TC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NotoSansTC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318319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機器學習前十大學習法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 完全入門教學手冊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9001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從核心理論到商務實戰的 360 度解析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04438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專業管理顧問系列 | 初學者友善教材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什麼是機器學習？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524125"/>
            <a:ext cx="55006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6B3"/>
                </a:solidFill>
                <a:latin typeface="Noto Sans TC"/>
                <a:ea typeface="Noto Sans TC"/>
                <a:cs typeface="Noto Sans TC"/>
                <a:sym typeface="Noto Sans TC"/>
              </a:rPr>
              <a:t>從「編寫規則」到「學習模式」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9622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傳統編程需要人類明確告訴電腦所有規則 (If-Then)；機器學習則是給予大量數據，讓電腦</a:t>
            </a: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自動參悟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其中的規律。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52500" y="37623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輸入：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經驗與歷史數據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2576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過程：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演算法尋找數學模型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7529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輸出：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對未知數據的準確預測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6237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5767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52975"/>
            <a:ext cx="177849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十大學習法體系概覽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5"/>
          <p:cNvGraphicFramePr/>
          <p:nvPr/>
        </p:nvGraphicFramePr>
        <p:xfrm>
          <a:off x="571500" y="2500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{2F6AB6FD-01EE-449D-90AA-9F857481E0A3}</a:tableStyleId>
              </a:tblPr>
              <a:tblGrid>
                <a:gridCol w="2376625"/>
                <a:gridCol w="2457150"/>
                <a:gridCol w="6215200"/>
              </a:tblGrid>
              <a:tr h="59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類別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任務目標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核心演算法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</a:tr>
              <a:tr h="59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監督式學習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預測數值/分類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線性迴歸、邏輯迴歸、決策樹、SVM、KNN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集成學習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追求極致精準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隨機森林、XGBoost (Gradient Boosting)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非監督式學習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尋找數據規律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K-Means 分群、PCA 降維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深度學習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處理複雜感官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深度神經網路 (DNN)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15"/>
          <p:cNvSpPr/>
          <p:nvPr/>
        </p:nvSpPr>
        <p:spPr>
          <a:xfrm>
            <a:off x="571500" y="3705225"/>
            <a:ext cx="2376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948136" y="3705225"/>
            <a:ext cx="24571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405288" y="3705225"/>
            <a:ext cx="6215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4286250"/>
            <a:ext cx="2376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948136" y="4286250"/>
            <a:ext cx="24571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405288" y="4286250"/>
            <a:ext cx="6215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1500" y="4867275"/>
            <a:ext cx="2376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2948136" y="4867275"/>
            <a:ext cx="24571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405288" y="4867275"/>
            <a:ext cx="6215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71500" y="5448300"/>
            <a:ext cx="2376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2948136" y="5448300"/>
            <a:ext cx="24571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405288" y="5448300"/>
            <a:ext cx="6215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0499"/>
            <a:ext cx="5238750" cy="311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30499"/>
            <a:ext cx="5238750" cy="311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892599"/>
            <a:ext cx="46672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3892599"/>
            <a:ext cx="4667250" cy="67687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預測的核心：線性與邏輯迴歸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2654349"/>
            <a:ext cx="49006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1. 線性迴歸 (Linear)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3092499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用於預測「連續數值」，如房價或銷量。目標是找到一條最貼近所有數據點的直線。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721274"/>
            <a:ext cx="4667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(Y: 預測值, X: 特徵, a: 斜率, b: 截距)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67500" y="2654349"/>
            <a:ext cx="49006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2. 邏輯迴歸 (Logistic)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67500" y="3092499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雖然叫迴歸，但它是「分類」高手。將結果映射到 0~1 之間，計算事件發生的</a:t>
            </a: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機率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。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67500" y="4759969"/>
            <a:ext cx="4667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常用於：垃圾郵件攔截、盜刷偵測。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80989" y="4130724"/>
            <a:ext cx="105787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61040" y="4109293"/>
            <a:ext cx="918269" cy="26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決策結構：樹與森林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45624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「三個臭皮匠，勝過一個諸葛亮」的完美體現。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81200"/>
            <a:ext cx="1702444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952500" y="28670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3. 決策樹 (Decision Tree)：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模擬人類思考，透過一系列「是/否」問題將數據分類。</a:t>
            </a: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優點：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極易解釋。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52500" y="366712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4. 隨機森林 (Random Forest)：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集合上百棵決策樹，進行投票。</a:t>
            </a: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優點：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穩定性極高，不容易「過度擬合」。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6702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7125"/>
            <a:ext cx="177849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2225"/>
            <a:ext cx="52387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62225"/>
            <a:ext cx="52387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空間幾何：SVM 與 KNN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857250" y="2886075"/>
            <a:ext cx="49006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5. 支持向量機 (SVM)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57250" y="33242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在不同類別間劃出一條「最寬的護城河」 (Maximum Margin)。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57250" y="41243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適用於：高維度數據（如文字分類、基因序列）。它能處理極其複雜的非線性邊界。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667500" y="2886075"/>
            <a:ext cx="49006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6. K-近鄰演算法 (KNN)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667500" y="33242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「物以類聚」的代表。要判斷新數據屬於哪類？看它最近的 K 個鄰居大多是什麼顏色。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67500" y="41243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關鍵點：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K 值的選擇決定了模型的敏感度。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762000" y="571500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7. K-MEANS 自動分群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657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571500" y="1676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非監督式學習：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數據沒有標籤，讓電腦自己找規律。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4152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應用案例：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電商會員分群（自動識別 VIP 與小資族）。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52500" y="23241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隨機設定中心點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52500" y="2819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依距離劃分群體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52500" y="33147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重新計算中心並移動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24100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19400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14700"/>
            <a:ext cx="177849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4625"/>
            <a:ext cx="52387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14625"/>
            <a:ext cx="52387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精簡與機率：PCA 與 NAIVE BAYES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857250" y="3038475"/>
            <a:ext cx="49006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8. 單純貝氏 (Naive Bayes)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57250" y="34766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基於條件機率。假設特徵間互相獨立，雖然「單純」，但在</a:t>
            </a: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垃圾郵件過濾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與</a:t>
            </a: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文本分類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中表現出奇地好且快。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67500" y="3038475"/>
            <a:ext cx="49006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9. 主成分分析 (PCA)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667500" y="347662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「數據瘦身術」。將上百個欄位壓縮成幾個精華指標，同時保留最多的原始資訊。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667500" y="42767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解決「維度災難」，提升運算效率。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54647"/>
            <a:ext cx="523875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10. 提升法：性能的巔峰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2543175"/>
            <a:ext cx="55006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XGBoost &amp; Gradient Boosting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29432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核心邏輯：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循序漸進，下一棵樹專門修正前一棵樹的錯誤 (Residuals)。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952500" y="37433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目前 Kaggle 大賽最熱門演算法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952500" y="42386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處理表格類數據的「絕對王者」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952500" y="47339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運算速度極快、預測精準度最高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81750" y="4721572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* 在結構化商務數據中的實測表現</a:t>
            </a:r>
            <a:endParaRPr/>
          </a:p>
        </p:txBody>
      </p:sp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4332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3862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33925"/>
            <a:ext cx="177849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深度神經網路 (DNN)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17811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模仿人類大腦神經元，處理「非結構化數據」的最佳選擇。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71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6381750" y="48482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應用：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人臉辨識、自動駕駛、ChatGPT (Transformer)。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762750" y="33623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輸入層：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接收原始特徵 (如像素點)。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62750" y="38576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隱藏層：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自動提取特徵，從邊緣到物體形狀。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762750" y="43529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輸出層：</a:t>
            </a:r>
            <a:r>
              <a:rPr b="0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 給出最終決策 (這是貓還是狗？)。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6232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85762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52925"/>
            <a:ext cx="177849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762000" y="57150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戰略決策：如何挑選演算法？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47339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6B3"/>
                </a:solidFill>
                <a:latin typeface="Noto Sans TC"/>
                <a:ea typeface="Noto Sans TC"/>
                <a:cs typeface="Noto Sans TC"/>
                <a:sym typeface="Noto Sans TC"/>
              </a:rPr>
              <a:t>原則：</a:t>
            </a:r>
            <a:r>
              <a:rPr b="0" i="0" lang="en-US" sz="1500" u="none" cap="none" strike="noStrike">
                <a:solidFill>
                  <a:srgbClr val="0056B3"/>
                </a:solidFill>
                <a:latin typeface="Noto Sans TC"/>
                <a:ea typeface="Noto Sans TC"/>
                <a:cs typeface="Noto Sans TC"/>
                <a:sym typeface="Noto Sans TC"/>
              </a:rPr>
              <a:t> 先從簡單的開始 (如線性迴歸)，視成效再逐步增加複雜度。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23962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295275" y="22717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準備好開始了嗎？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571500" y="327183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機器學習是一場持續的實驗。選對武器，數據將成為您的最強戰力。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5143500" y="4189958"/>
            <a:ext cx="1905000" cy="381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571500" y="459000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如有任何問題，歡迎隨時討論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5237708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專業教學系列 | 機器學習通識課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A2540"/>
                </a:solidFill>
                <a:latin typeface="Noto Sans TC"/>
                <a:ea typeface="Noto Sans TC"/>
                <a:cs typeface="Noto Sans TC"/>
                <a:sym typeface="Noto Sans TC"/>
              </a:rPr>
              <a:t>IMAGE SOURCES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218420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296897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75374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29594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29594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3744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3744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45289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45289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36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666875" y="232707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https://png.pngtree.com/thumb_back/fw800/background/20260328/pngtree-glowing-neural-network-brain-on-circuit-board-image_21637084.webp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666875" y="25727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TC"/>
                <a:ea typeface="Noto Sans TC"/>
                <a:cs typeface="Noto Sans TC"/>
                <a:sym typeface="Noto Sans TC"/>
              </a:rPr>
              <a:t>pngtree.com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18395"/>
            <a:ext cx="174679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666875" y="311184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https://kajabi-storefronts-production.kajabi-cdn.com/kajabi-storefronts-production/themes/2150069029/settings_images/h6QafUiWSHecVFiLLHwP_Slide1.png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666875" y="335756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TC"/>
                <a:ea typeface="Noto Sans TC"/>
                <a:cs typeface="Noto Sans TC"/>
                <a:sym typeface="Noto Sans TC"/>
              </a:rPr>
              <a:t>www.simpleslides.co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031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66875" y="389661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https://www.datanovia.com/en/wp-content/uploads/2020/06/k-means-clustering-visualization-in-r-plot-k-means-in-r-1.png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41423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TC"/>
                <a:ea typeface="Noto Sans TC"/>
                <a:cs typeface="Noto Sans TC"/>
                <a:sym typeface="Noto Sans TC"/>
              </a:rPr>
              <a:t>www.datanovia.com</a:t>
            </a:r>
            <a:endParaRPr/>
          </a:p>
        </p:txBody>
      </p:sp>
      <p:pic>
        <p:nvPicPr>
          <p:cNvPr descr="image.png" id="282" name="Google Shape;28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87056"/>
            <a:ext cx="1605557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666875" y="468138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https://static.vecteezy.com/system/resources/previews/070/214/850/non_2x/abstract-futuristic-global-network-connection-with-connecting-dots-and-lines-on-dark-blue-background-big-data-visualization-internet-technology-and-science-concept-vector.jpg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666875" y="51251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25466"/>
                </a:solidFill>
                <a:latin typeface="Noto Sans TC"/>
                <a:ea typeface="Noto Sans TC"/>
                <a:cs typeface="Noto Sans TC"/>
                <a:sym typeface="Noto Sans T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TC"/>
                <a:ea typeface="Noto Sans TC"/>
                <a:cs typeface="Noto Sans TC"/>
                <a:sym typeface="Noto Sans TC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